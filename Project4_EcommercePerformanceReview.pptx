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3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Cancelled</c:v>
                  </c:pt>
                  <c:pt idx="1">
                    <c:v>Returned</c:v>
                  </c:pt>
                  <c:pt idx="2">
                    <c:v>Pending</c:v>
                  </c:pt>
                  <c:pt idx="3">
                    <c:v>Shipped</c:v>
                  </c:pt>
                  <c:pt idx="4">
                    <c:v>Delivered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2023 Q1</c:v>
                  </c:pt>
                  <c:pt idx="1">
                    <c:v>2023 Q2</c:v>
                  </c:pt>
                  <c:pt idx="2">
                    <c:v>2023 Q3</c:v>
                  </c:pt>
                  <c:pt idx="3">
                    <c:v>2023 Q4</c:v>
                  </c:pt>
                  <c:pt idx="4">
                    <c:v>2024 Q1</c:v>
                  </c:pt>
                  <c:pt idx="5">
                    <c:v>2024 Q2</c:v>
                  </c:pt>
                  <c:pt idx="6">
                    <c:v>2024 Q3</c:v>
                  </c:pt>
                  <c:pt idx="7">
                    <c:v>2024 Q4</c:v>
                  </c:pt>
                  <c:pt idx="8">
                    <c:v>2025 Q1</c:v>
                  </c:pt>
                  <c:pt idx="9">
                    <c:v>2025 Q2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145413</c:v>
                </c:pt>
                <c:pt idx="1">
                  <c:v>141089</c:v>
                </c:pt>
                <c:pt idx="2">
                  <c:v>126699</c:v>
                </c:pt>
                <c:pt idx="3">
                  <c:v>139442</c:v>
                </c:pt>
                <c:pt idx="4">
                  <c:v>111469</c:v>
                </c:pt>
                <c:pt idx="5">
                  <c:v>145591</c:v>
                </c:pt>
                <c:pt idx="6">
                  <c:v>114750</c:v>
                </c:pt>
                <c:pt idx="7">
                  <c:v>108426</c:v>
                </c:pt>
                <c:pt idx="8">
                  <c:v>103618</c:v>
                </c:pt>
                <c:pt idx="9">
                  <c:v>128265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Printer</c:v>
                  </c:pt>
                  <c:pt idx="2">
                    <c:v>Laptop</c:v>
                  </c:pt>
                  <c:pt idx="3">
                    <c:v>Tablet</c:v>
                  </c:pt>
                  <c:pt idx="4">
                    <c:v>Monitor</c:v>
                  </c:pt>
                  <c:pt idx="5">
                    <c:v>Desk</c:v>
                  </c:pt>
                  <c:pt idx="6">
                    <c:v>Phone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Instagram</c:v>
                  </c:pt>
                  <c:pt idx="1">
                    <c:v>Email</c:v>
                  </c:pt>
                  <c:pt idx="2">
                    <c:v>Google</c:v>
                  </c:pt>
                  <c:pt idx="3">
                    <c:v>Facebook</c:v>
                  </c:pt>
                  <c:pt idx="4">
                    <c:v>Referral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275285</c:v>
                </c:pt>
                <c:pt idx="1">
                  <c:v>261809</c:v>
                </c:pt>
                <c:pt idx="2">
                  <c:v>250441</c:v>
                </c:pt>
                <c:pt idx="3">
                  <c:v>250411</c:v>
                </c:pt>
                <c:pt idx="4">
                  <c:v>226816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2296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28016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640080"/>
            <a:ext cx="54864" cy="54864"/>
          </a:xfrm>
          <a:prstGeom prst="ellipse">
            <a:avLst/>
          </a:prstGeom>
          <a:solidFill>
            <a:srgbClr val="3B4A9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· DATA VISUALIZATION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Performance Review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1,200 raw orders into </a:t>
            </a:r>
            <a:pPr indent="0" marL="0">
              <a:buNone/>
            </a:pPr>
            <a:r>
              <a:rPr lang="en-US" sz="1800" b="1" dirty="0">
                <a:solidFill>
                  <a:srgbClr val="5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boardroom-ready insight</a:t>
            </a:r>
            <a:pPr indent="0" marL="0">
              <a:buNone/>
            </a:pPr>
            <a:r>
              <a:rPr lang="en-US" sz="18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5D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Analytics Certification  ·  Optional Mastery Phase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Months, 1,200 Orders, $1.26M in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 this is the baseline the rest of the review measures against.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$1,264,762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Jun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product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0116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331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8972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to Phone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revenue is healthy in absolute terms — but scale alone hides two problems the next slides surface.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 of Orders </a:t>
            </a:r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Reach a Successful Delivery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Complication: cancellations and returns are now the single largest order-status category — larger than "Delivered."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41.4%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1,200 orders end as Cancelled or Returned — combined, that's more orders than were successfully Delivered.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4480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audit the checkout-to-fulfillment funnel for the top cancellation triggers before scaling ad spend further.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Revenue Has Slipped </a:t>
            </a:r>
            <a:pPr indent="0" marL="0">
              <a:buNone/>
            </a:pPr>
            <a:r>
              <a:rPr lang="en-US" sz="2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11.8%</a:t>
            </a:r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Since Launch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Complication: average revenue in the first 3 months of the dataset was $48.5K/mo; the last 3 months averaged $42.8K/mo.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revenue decline is gradual, not a cliff — consistent with the fulfillment losses on the prior slide compounding quarter over quarter rather than a single shock event.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Chairs and Printers Drive </a:t>
            </a:r>
            <a:pPr indent="0" marL="0">
              <a:buNone/>
            </a:pPr>
            <a:r>
              <a:rPr lang="en-US" sz="2800" b="1" dirty="0">
                <a:solidFill>
                  <a:srgbClr val="1E7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Total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inventory and marketing budget should weight toward the two proven revenue leaders.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Referrals Convert Best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Instagram drives $275K (21.8% of revenue) from 259 orders — the top channel by both revenue and volume.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 is balanced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4231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Card, Online, Cash, Gift Card, and Debit Card each carry 18-21% of revenue — no single method dominates, so no gateway is a bottleneck.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don't move the needle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4389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is ~$1,035-$1,070 whether or not a coupon was used — discounting is not currently driving larger baskets.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Based on This Data, Three Actions Follow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from 1,200 orders to three concrete next steps for the business.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A357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fulfillment first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+ returns (41.4%) outnumber successful deliveries. Investigate checkout, stock accuracy, and shipping-partner reliability before any growth push.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A35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on Chairs and Printers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SKUs already generate 31% of revenue on comparable unit volume to the rest of the catalog. Prioritize their stock and promotion.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2A3572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377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D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in Instagram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7490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top channel on both orders and revenue ($275K, 21.8% of total). Shift incremental marketing budget away from the lowest-converting channel, Referral.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data, formulas, and supporting charts: project4_workbook.xlsx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— Project 4: Data Visualization  |  Source: E-Commerce Order Dataset, n = 1,200 orders, Jan 2023–Jun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2026-07-14T20:20:20Z</dcterms:created>
  <dcterms:modified xsi:type="dcterms:W3CDTF">2026-07-14T20:20:20Z</dcterms:modified>
</cp:coreProperties>
</file>